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Fredoka" charset="1" panose="02000000000000000000"/>
      <p:regular r:id="rId28"/>
    </p:embeddedFont>
    <p:embeddedFont>
      <p:font typeface="Montserrat Semi-Bold Italics" charset="1" panose="00000700000000000000"/>
      <p:regular r:id="rId29"/>
    </p:embeddedFont>
    <p:embeddedFont>
      <p:font typeface="Montserrat Medium" charset="1" panose="00000600000000000000"/>
      <p:regular r:id="rId30"/>
    </p:embeddedFont>
    <p:embeddedFont>
      <p:font typeface="Canva Sans" charset="1" panose="020B0503030501040103"/>
      <p:regular r:id="rId31"/>
    </p:embeddedFont>
    <p:embeddedFont>
      <p:font typeface="League Spartan" charset="1" panose="00000800000000000000"/>
      <p:regular r:id="rId32"/>
    </p:embeddedFont>
    <p:embeddedFont>
      <p:font typeface="Montserrat" charset="1" panose="000005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15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jpe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10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73186" y="-882247"/>
            <a:ext cx="17240730" cy="14607600"/>
          </a:xfrm>
          <a:custGeom>
            <a:avLst/>
            <a:gdLst/>
            <a:ahLst/>
            <a:cxnLst/>
            <a:rect r="r" b="b" t="t" l="l"/>
            <a:pathLst>
              <a:path h="14607600" w="17240730">
                <a:moveTo>
                  <a:pt x="0" y="0"/>
                </a:moveTo>
                <a:lnTo>
                  <a:pt x="17240729" y="0"/>
                </a:lnTo>
                <a:lnTo>
                  <a:pt x="17240729" y="14607600"/>
                </a:lnTo>
                <a:lnTo>
                  <a:pt x="0" y="1460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22958">
            <a:off x="6546026" y="-1143547"/>
            <a:ext cx="16072061" cy="11601106"/>
          </a:xfrm>
          <a:custGeom>
            <a:avLst/>
            <a:gdLst/>
            <a:ahLst/>
            <a:cxnLst/>
            <a:rect r="r" b="b" t="t" l="l"/>
            <a:pathLst>
              <a:path h="11601106" w="16072061">
                <a:moveTo>
                  <a:pt x="0" y="0"/>
                </a:moveTo>
                <a:lnTo>
                  <a:pt x="16072060" y="0"/>
                </a:lnTo>
                <a:lnTo>
                  <a:pt x="16072060" y="11601106"/>
                </a:lnTo>
                <a:lnTo>
                  <a:pt x="0" y="11601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19911" y="6213323"/>
            <a:ext cx="3050862" cy="1736218"/>
          </a:xfrm>
          <a:custGeom>
            <a:avLst/>
            <a:gdLst/>
            <a:ahLst/>
            <a:cxnLst/>
            <a:rect r="r" b="b" t="t" l="l"/>
            <a:pathLst>
              <a:path h="1736218" w="3050862">
                <a:moveTo>
                  <a:pt x="0" y="0"/>
                </a:moveTo>
                <a:lnTo>
                  <a:pt x="3050862" y="0"/>
                </a:lnTo>
                <a:lnTo>
                  <a:pt x="3050862" y="1736218"/>
                </a:lnTo>
                <a:lnTo>
                  <a:pt x="0" y="1736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03510" y="1723187"/>
            <a:ext cx="6472641" cy="6839883"/>
          </a:xfrm>
          <a:custGeom>
            <a:avLst/>
            <a:gdLst/>
            <a:ahLst/>
            <a:cxnLst/>
            <a:rect r="r" b="b" t="t" l="l"/>
            <a:pathLst>
              <a:path h="6839883" w="6472641">
                <a:moveTo>
                  <a:pt x="0" y="0"/>
                </a:moveTo>
                <a:lnTo>
                  <a:pt x="6472640" y="0"/>
                </a:lnTo>
                <a:lnTo>
                  <a:pt x="6472640" y="6839883"/>
                </a:lnTo>
                <a:lnTo>
                  <a:pt x="0" y="68398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53393"/>
            <a:ext cx="1704110" cy="969794"/>
          </a:xfrm>
          <a:custGeom>
            <a:avLst/>
            <a:gdLst/>
            <a:ahLst/>
            <a:cxnLst/>
            <a:rect r="r" b="b" t="t" l="l"/>
            <a:pathLst>
              <a:path h="969794" w="1704110">
                <a:moveTo>
                  <a:pt x="0" y="0"/>
                </a:moveTo>
                <a:lnTo>
                  <a:pt x="1704110" y="0"/>
                </a:lnTo>
                <a:lnTo>
                  <a:pt x="1704110" y="969794"/>
                </a:lnTo>
                <a:lnTo>
                  <a:pt x="0" y="9697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48932" y="-13686"/>
            <a:ext cx="6716860" cy="6716860"/>
          </a:xfrm>
          <a:custGeom>
            <a:avLst/>
            <a:gdLst/>
            <a:ahLst/>
            <a:cxnLst/>
            <a:rect r="r" b="b" t="t" l="l"/>
            <a:pathLst>
              <a:path h="6716860" w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616069" y="3493135"/>
            <a:ext cx="9991293" cy="242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44"/>
              </a:lnSpc>
            </a:pPr>
            <a:r>
              <a:rPr lang="en-US" sz="14174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MEDISCAN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63596" y="6354878"/>
            <a:ext cx="3014216" cy="62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| | D2_Group1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58126" y="-2432588"/>
            <a:ext cx="17240730" cy="14607600"/>
          </a:xfrm>
          <a:custGeom>
            <a:avLst/>
            <a:gdLst/>
            <a:ahLst/>
            <a:cxnLst/>
            <a:rect r="r" b="b" t="t" l="l"/>
            <a:pathLst>
              <a:path h="14607600" w="17240730">
                <a:moveTo>
                  <a:pt x="0" y="0"/>
                </a:moveTo>
                <a:lnTo>
                  <a:pt x="17240729" y="0"/>
                </a:lnTo>
                <a:lnTo>
                  <a:pt x="17240729" y="14607600"/>
                </a:lnTo>
                <a:lnTo>
                  <a:pt x="0" y="1460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022137">
            <a:off x="2825146" y="536167"/>
            <a:ext cx="16723353" cy="12071220"/>
          </a:xfrm>
          <a:custGeom>
            <a:avLst/>
            <a:gdLst/>
            <a:ahLst/>
            <a:cxnLst/>
            <a:rect r="r" b="b" t="t" l="l"/>
            <a:pathLst>
              <a:path h="12071220" w="16723353">
                <a:moveTo>
                  <a:pt x="0" y="0"/>
                </a:moveTo>
                <a:lnTo>
                  <a:pt x="16723353" y="0"/>
                </a:lnTo>
                <a:lnTo>
                  <a:pt x="16723353" y="12071220"/>
                </a:lnTo>
                <a:lnTo>
                  <a:pt x="0" y="1207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75073" y="2808768"/>
            <a:ext cx="8066398" cy="8155366"/>
          </a:xfrm>
          <a:custGeom>
            <a:avLst/>
            <a:gdLst/>
            <a:ahLst/>
            <a:cxnLst/>
            <a:rect r="r" b="b" t="t" l="l"/>
            <a:pathLst>
              <a:path h="8155366" w="8066398">
                <a:moveTo>
                  <a:pt x="0" y="0"/>
                </a:moveTo>
                <a:lnTo>
                  <a:pt x="8066398" y="0"/>
                </a:lnTo>
                <a:lnTo>
                  <a:pt x="8066398" y="8155366"/>
                </a:lnTo>
                <a:lnTo>
                  <a:pt x="0" y="81553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524750" y="6179828"/>
            <a:ext cx="2407092" cy="2015363"/>
            <a:chOff x="0" y="0"/>
            <a:chExt cx="788118" cy="6598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8118" cy="659860"/>
            </a:xfrm>
            <a:custGeom>
              <a:avLst/>
              <a:gdLst/>
              <a:ahLst/>
              <a:cxnLst/>
              <a:rect r="r" b="b" t="t" l="l"/>
              <a:pathLst>
                <a:path h="659860" w="788118">
                  <a:moveTo>
                    <a:pt x="73975" y="0"/>
                  </a:moveTo>
                  <a:lnTo>
                    <a:pt x="714143" y="0"/>
                  </a:lnTo>
                  <a:cubicBezTo>
                    <a:pt x="754998" y="0"/>
                    <a:pt x="788118" y="33120"/>
                    <a:pt x="788118" y="73975"/>
                  </a:cubicBezTo>
                  <a:lnTo>
                    <a:pt x="788118" y="585885"/>
                  </a:lnTo>
                  <a:cubicBezTo>
                    <a:pt x="788118" y="626740"/>
                    <a:pt x="754998" y="659860"/>
                    <a:pt x="714143" y="659860"/>
                  </a:cubicBezTo>
                  <a:lnTo>
                    <a:pt x="73975" y="659860"/>
                  </a:lnTo>
                  <a:cubicBezTo>
                    <a:pt x="33120" y="659860"/>
                    <a:pt x="0" y="626740"/>
                    <a:pt x="0" y="585885"/>
                  </a:cubicBezTo>
                  <a:lnTo>
                    <a:pt x="0" y="73975"/>
                  </a:lnTo>
                  <a:cubicBezTo>
                    <a:pt x="0" y="33120"/>
                    <a:pt x="33120" y="0"/>
                    <a:pt x="73975" y="0"/>
                  </a:cubicBezTo>
                  <a:close/>
                </a:path>
              </a:pathLst>
            </a:custGeom>
            <a:blipFill>
              <a:blip r:embed="rId8"/>
              <a:stretch>
                <a:fillRect l="-30380" t="-78781" r="0" b="-28848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657998" y="745504"/>
            <a:ext cx="8732370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Our Team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186822" y="2661023"/>
            <a:ext cx="2407092" cy="2210189"/>
            <a:chOff x="0" y="0"/>
            <a:chExt cx="788118" cy="7236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8118" cy="723649"/>
            </a:xfrm>
            <a:custGeom>
              <a:avLst/>
              <a:gdLst/>
              <a:ahLst/>
              <a:cxnLst/>
              <a:rect r="r" b="b" t="t" l="l"/>
              <a:pathLst>
                <a:path h="723649" w="788118">
                  <a:moveTo>
                    <a:pt x="73975" y="0"/>
                  </a:moveTo>
                  <a:lnTo>
                    <a:pt x="714143" y="0"/>
                  </a:lnTo>
                  <a:cubicBezTo>
                    <a:pt x="754998" y="0"/>
                    <a:pt x="788118" y="33120"/>
                    <a:pt x="788118" y="73975"/>
                  </a:cubicBezTo>
                  <a:lnTo>
                    <a:pt x="788118" y="649674"/>
                  </a:lnTo>
                  <a:cubicBezTo>
                    <a:pt x="788118" y="690529"/>
                    <a:pt x="754998" y="723649"/>
                    <a:pt x="714143" y="723649"/>
                  </a:cubicBezTo>
                  <a:lnTo>
                    <a:pt x="73975" y="723649"/>
                  </a:lnTo>
                  <a:cubicBezTo>
                    <a:pt x="33120" y="723649"/>
                    <a:pt x="0" y="690529"/>
                    <a:pt x="0" y="649674"/>
                  </a:cubicBezTo>
                  <a:lnTo>
                    <a:pt x="0" y="73975"/>
                  </a:lnTo>
                  <a:cubicBezTo>
                    <a:pt x="0" y="33120"/>
                    <a:pt x="33120" y="0"/>
                    <a:pt x="73975" y="0"/>
                  </a:cubicBezTo>
                  <a:close/>
                </a:path>
              </a:pathLst>
            </a:custGeom>
            <a:blipFill>
              <a:blip r:embed="rId9"/>
              <a:stretch>
                <a:fillRect l="-1941" t="0" r="-194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852208" y="6306616"/>
            <a:ext cx="2407092" cy="2015363"/>
            <a:chOff x="0" y="0"/>
            <a:chExt cx="788118" cy="6598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8118" cy="659860"/>
            </a:xfrm>
            <a:custGeom>
              <a:avLst/>
              <a:gdLst/>
              <a:ahLst/>
              <a:cxnLst/>
              <a:rect r="r" b="b" t="t" l="l"/>
              <a:pathLst>
                <a:path h="659860" w="788118">
                  <a:moveTo>
                    <a:pt x="73975" y="0"/>
                  </a:moveTo>
                  <a:lnTo>
                    <a:pt x="714143" y="0"/>
                  </a:lnTo>
                  <a:cubicBezTo>
                    <a:pt x="754998" y="0"/>
                    <a:pt x="788118" y="33120"/>
                    <a:pt x="788118" y="73975"/>
                  </a:cubicBezTo>
                  <a:lnTo>
                    <a:pt x="788118" y="585885"/>
                  </a:lnTo>
                  <a:cubicBezTo>
                    <a:pt x="788118" y="626740"/>
                    <a:pt x="754998" y="659860"/>
                    <a:pt x="714143" y="659860"/>
                  </a:cubicBezTo>
                  <a:lnTo>
                    <a:pt x="73975" y="659860"/>
                  </a:lnTo>
                  <a:cubicBezTo>
                    <a:pt x="33120" y="659860"/>
                    <a:pt x="0" y="626740"/>
                    <a:pt x="0" y="585885"/>
                  </a:cubicBezTo>
                  <a:lnTo>
                    <a:pt x="0" y="73975"/>
                  </a:lnTo>
                  <a:cubicBezTo>
                    <a:pt x="0" y="33120"/>
                    <a:pt x="33120" y="0"/>
                    <a:pt x="73975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22149" r="0" b="-56782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641584" y="1489407"/>
            <a:ext cx="1777054" cy="1444596"/>
          </a:xfrm>
          <a:custGeom>
            <a:avLst/>
            <a:gdLst/>
            <a:ahLst/>
            <a:cxnLst/>
            <a:rect r="r" b="b" t="t" l="l"/>
            <a:pathLst>
              <a:path h="1444596" w="1777054">
                <a:moveTo>
                  <a:pt x="0" y="0"/>
                </a:moveTo>
                <a:lnTo>
                  <a:pt x="1777054" y="0"/>
                </a:lnTo>
                <a:lnTo>
                  <a:pt x="1777054" y="1444596"/>
                </a:lnTo>
                <a:lnTo>
                  <a:pt x="0" y="14445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227526" y="1028700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4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000875" y="8452366"/>
            <a:ext cx="345484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b="true" sz="3399" i="true">
                <a:solidFill>
                  <a:srgbClr val="FFFFFF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Arya Shah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62947" y="4937887"/>
            <a:ext cx="345484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b="true" sz="3399" i="true">
                <a:solidFill>
                  <a:srgbClr val="FFFFFF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Kriya Sheth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25019" y="8452366"/>
            <a:ext cx="345484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b="true" sz="3399" i="true">
                <a:solidFill>
                  <a:srgbClr val="FFFFFF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Megh Shah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68802">
            <a:off x="-4816841" y="-2332895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5"/>
                </a:lnTo>
                <a:lnTo>
                  <a:pt x="0" y="1625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91050">
            <a:off x="-4938072" y="-1206000"/>
            <a:ext cx="16723353" cy="12071220"/>
          </a:xfrm>
          <a:custGeom>
            <a:avLst/>
            <a:gdLst/>
            <a:ahLst/>
            <a:cxnLst/>
            <a:rect r="r" b="b" t="t" l="l"/>
            <a:pathLst>
              <a:path h="12071220" w="16723353">
                <a:moveTo>
                  <a:pt x="0" y="0"/>
                </a:moveTo>
                <a:lnTo>
                  <a:pt x="16723353" y="0"/>
                </a:lnTo>
                <a:lnTo>
                  <a:pt x="16723353" y="12071220"/>
                </a:lnTo>
                <a:lnTo>
                  <a:pt x="0" y="1207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79832" y="1686531"/>
            <a:ext cx="6813203" cy="8600469"/>
          </a:xfrm>
          <a:custGeom>
            <a:avLst/>
            <a:gdLst/>
            <a:ahLst/>
            <a:cxnLst/>
            <a:rect r="r" b="b" t="t" l="l"/>
            <a:pathLst>
              <a:path h="8600469" w="6813203">
                <a:moveTo>
                  <a:pt x="0" y="0"/>
                </a:moveTo>
                <a:lnTo>
                  <a:pt x="6813203" y="0"/>
                </a:lnTo>
                <a:lnTo>
                  <a:pt x="6813203" y="8600469"/>
                </a:lnTo>
                <a:lnTo>
                  <a:pt x="0" y="86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319460"/>
            <a:ext cx="7567282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68372"/>
            <a:ext cx="9233074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MediScan is a comprehensive, AI-powered healthcare assistant designed to bridge the gap between patients and healthcare providers. It serves as a unified platform for tracking personal health metrics, managing medications, booking doctor appointments, and maintaining family health records.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686699" y="74712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67162" y="9772650"/>
            <a:ext cx="1807620" cy="1028700"/>
          </a:xfrm>
          <a:custGeom>
            <a:avLst/>
            <a:gdLst/>
            <a:ahLst/>
            <a:cxnLst/>
            <a:rect r="r" b="b" t="t" l="l"/>
            <a:pathLst>
              <a:path h="1028700" w="1807620">
                <a:moveTo>
                  <a:pt x="0" y="0"/>
                </a:moveTo>
                <a:lnTo>
                  <a:pt x="1807620" y="0"/>
                </a:lnTo>
                <a:lnTo>
                  <a:pt x="180762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737974">
            <a:off x="277259" y="-1036010"/>
            <a:ext cx="16723353" cy="12071220"/>
          </a:xfrm>
          <a:custGeom>
            <a:avLst/>
            <a:gdLst/>
            <a:ahLst/>
            <a:cxnLst/>
            <a:rect r="r" b="b" t="t" l="l"/>
            <a:pathLst>
              <a:path h="12071220" w="16723353">
                <a:moveTo>
                  <a:pt x="0" y="0"/>
                </a:moveTo>
                <a:lnTo>
                  <a:pt x="16723353" y="0"/>
                </a:lnTo>
                <a:lnTo>
                  <a:pt x="16723353" y="12071220"/>
                </a:lnTo>
                <a:lnTo>
                  <a:pt x="0" y="12071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586" y="-2650696"/>
            <a:ext cx="17240730" cy="14607600"/>
          </a:xfrm>
          <a:custGeom>
            <a:avLst/>
            <a:gdLst/>
            <a:ahLst/>
            <a:cxnLst/>
            <a:rect r="r" b="b" t="t" l="l"/>
            <a:pathLst>
              <a:path h="14607600" w="17240730">
                <a:moveTo>
                  <a:pt x="0" y="0"/>
                </a:moveTo>
                <a:lnTo>
                  <a:pt x="17240729" y="0"/>
                </a:lnTo>
                <a:lnTo>
                  <a:pt x="17240729" y="14607600"/>
                </a:lnTo>
                <a:lnTo>
                  <a:pt x="0" y="1460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897283" y="862549"/>
            <a:ext cx="14003621" cy="114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302"/>
              </a:lnSpc>
            </a:pPr>
            <a:r>
              <a:rPr lang="en-US" sz="6644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Technical Breakdown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813866" y="297325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8987961"/>
            <a:ext cx="1560511" cy="888072"/>
          </a:xfrm>
          <a:custGeom>
            <a:avLst/>
            <a:gdLst/>
            <a:ahLst/>
            <a:cxnLst/>
            <a:rect r="r" b="b" t="t" l="l"/>
            <a:pathLst>
              <a:path h="888072" w="1560511">
                <a:moveTo>
                  <a:pt x="0" y="0"/>
                </a:moveTo>
                <a:lnTo>
                  <a:pt x="1560511" y="0"/>
                </a:lnTo>
                <a:lnTo>
                  <a:pt x="1560511" y="888073"/>
                </a:lnTo>
                <a:lnTo>
                  <a:pt x="0" y="8880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50834" y="2792412"/>
            <a:ext cx="14786331" cy="476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Backened - Python with flask framework</a:t>
            </a:r>
          </a:p>
          <a:p>
            <a:pPr algn="l" marL="798828" indent="-399414" lvl="1">
              <a:lnSpc>
                <a:spcPts val="6363"/>
              </a:lnSpc>
              <a:buFont typeface="Arial"/>
              <a:buChar char="•"/>
            </a:pPr>
            <a:r>
              <a:rPr lang="en-US" b="true" sz="36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 - HTML5 , CSS3 ,JavaScript (ES6+) ,Bootstrap 5, Jinja2</a:t>
            </a: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Database - SQLite</a:t>
            </a: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Visualization &amp; Analytics - Chart.js , Numpy ,Matplotlib</a:t>
            </a: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Email Services - SMTP for secure access</a:t>
            </a: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Security &amp; Validation - Werkzeug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987743">
            <a:off x="-5148051" y="-2289602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8541">
            <a:off x="-374719" y="-372707"/>
            <a:ext cx="17201471" cy="12416335"/>
          </a:xfrm>
          <a:custGeom>
            <a:avLst/>
            <a:gdLst/>
            <a:ahLst/>
            <a:cxnLst/>
            <a:rect r="r" b="b" t="t" l="l"/>
            <a:pathLst>
              <a:path h="12416335" w="17201471">
                <a:moveTo>
                  <a:pt x="0" y="0"/>
                </a:moveTo>
                <a:lnTo>
                  <a:pt x="17201471" y="0"/>
                </a:lnTo>
                <a:lnTo>
                  <a:pt x="17201471" y="12416334"/>
                </a:lnTo>
                <a:lnTo>
                  <a:pt x="0" y="12416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26120" y="9258300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26353" y="2512547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54062" y="144698"/>
            <a:ext cx="833938" cy="677922"/>
          </a:xfrm>
          <a:custGeom>
            <a:avLst/>
            <a:gdLst/>
            <a:ahLst/>
            <a:cxnLst/>
            <a:rect r="r" b="b" t="t" l="l"/>
            <a:pathLst>
              <a:path h="677922" w="833938">
                <a:moveTo>
                  <a:pt x="0" y="0"/>
                </a:moveTo>
                <a:lnTo>
                  <a:pt x="833938" y="0"/>
                </a:lnTo>
                <a:lnTo>
                  <a:pt x="833938" y="677923"/>
                </a:lnTo>
                <a:lnTo>
                  <a:pt x="0" y="6779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28" t="0" r="-126" b="7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198826" y="-102817"/>
            <a:ext cx="12589084" cy="10492634"/>
          </a:xfrm>
          <a:custGeom>
            <a:avLst/>
            <a:gdLst/>
            <a:ahLst/>
            <a:cxnLst/>
            <a:rect r="r" b="b" t="t" l="l"/>
            <a:pathLst>
              <a:path h="10492634" w="12589084">
                <a:moveTo>
                  <a:pt x="0" y="0"/>
                </a:moveTo>
                <a:lnTo>
                  <a:pt x="12589083" y="0"/>
                </a:lnTo>
                <a:lnTo>
                  <a:pt x="12589083" y="10492634"/>
                </a:lnTo>
                <a:lnTo>
                  <a:pt x="0" y="1049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4414" r="-11562" b="-19438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4730008" y="8965936"/>
            <a:ext cx="0" cy="2923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781173" y="-7702"/>
            <a:ext cx="7567282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Care Plan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-2423596" y="583792"/>
            <a:ext cx="17201471" cy="12416335"/>
          </a:xfrm>
          <a:custGeom>
            <a:avLst/>
            <a:gdLst/>
            <a:ahLst/>
            <a:cxnLst/>
            <a:rect r="r" b="b" t="t" l="l"/>
            <a:pathLst>
              <a:path h="12416335" w="17201471">
                <a:moveTo>
                  <a:pt x="0" y="0"/>
                </a:moveTo>
                <a:lnTo>
                  <a:pt x="17201472" y="0"/>
                </a:lnTo>
                <a:lnTo>
                  <a:pt x="17201472" y="12416335"/>
                </a:lnTo>
                <a:lnTo>
                  <a:pt x="0" y="12416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733555">
            <a:off x="9781527" y="-2338620"/>
            <a:ext cx="15279551" cy="12945947"/>
          </a:xfrm>
          <a:custGeom>
            <a:avLst/>
            <a:gdLst/>
            <a:ahLst/>
            <a:cxnLst/>
            <a:rect r="r" b="b" t="t" l="l"/>
            <a:pathLst>
              <a:path h="12945947" w="15279551">
                <a:moveTo>
                  <a:pt x="0" y="0"/>
                </a:moveTo>
                <a:lnTo>
                  <a:pt x="15279551" y="0"/>
                </a:lnTo>
                <a:lnTo>
                  <a:pt x="15279551" y="12945947"/>
                </a:lnTo>
                <a:lnTo>
                  <a:pt x="0" y="129459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987743">
            <a:off x="-4497109" y="-646779"/>
            <a:ext cx="15279551" cy="12945947"/>
          </a:xfrm>
          <a:custGeom>
            <a:avLst/>
            <a:gdLst/>
            <a:ahLst/>
            <a:cxnLst/>
            <a:rect r="r" b="b" t="t" l="l"/>
            <a:pathLst>
              <a:path h="12945947" w="15279551">
                <a:moveTo>
                  <a:pt x="0" y="0"/>
                </a:moveTo>
                <a:lnTo>
                  <a:pt x="15279552" y="0"/>
                </a:lnTo>
                <a:lnTo>
                  <a:pt x="15279552" y="12945947"/>
                </a:lnTo>
                <a:lnTo>
                  <a:pt x="0" y="129459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00821" y="3606799"/>
            <a:ext cx="8101652" cy="7146971"/>
          </a:xfrm>
          <a:custGeom>
            <a:avLst/>
            <a:gdLst/>
            <a:ahLst/>
            <a:cxnLst/>
            <a:rect r="r" b="b" t="t" l="l"/>
            <a:pathLst>
              <a:path h="7146971" w="8101652">
                <a:moveTo>
                  <a:pt x="0" y="0"/>
                </a:moveTo>
                <a:lnTo>
                  <a:pt x="8101652" y="0"/>
                </a:lnTo>
                <a:lnTo>
                  <a:pt x="8101652" y="7146971"/>
                </a:lnTo>
                <a:lnTo>
                  <a:pt x="0" y="71469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000791">
            <a:off x="6322837" y="3115971"/>
            <a:ext cx="1721618" cy="486357"/>
          </a:xfrm>
          <a:custGeom>
            <a:avLst/>
            <a:gdLst/>
            <a:ahLst/>
            <a:cxnLst/>
            <a:rect r="r" b="b" t="t" l="l"/>
            <a:pathLst>
              <a:path h="486357" w="1721618">
                <a:moveTo>
                  <a:pt x="0" y="0"/>
                </a:moveTo>
                <a:lnTo>
                  <a:pt x="1721618" y="0"/>
                </a:lnTo>
                <a:lnTo>
                  <a:pt x="1721618" y="486357"/>
                </a:lnTo>
                <a:lnTo>
                  <a:pt x="0" y="4863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00821" y="485775"/>
            <a:ext cx="9486359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Why Choose Us?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0723" y="2439034"/>
            <a:ext cx="6174343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PUBLIC ACCESS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8447" y="3933334"/>
            <a:ext cx="5148440" cy="454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Landing Page (Home)</a:t>
            </a:r>
          </a:p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About Us: </a:t>
            </a:r>
          </a:p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Find Doctors: </a:t>
            </a:r>
          </a:p>
          <a:p>
            <a:pPr algn="l" marL="906775" indent="-453388" lvl="1">
              <a:lnSpc>
                <a:spcPts val="5879"/>
              </a:lnSpc>
              <a:buAutoNum type="arabicPeriod" startAt="1"/>
            </a:pPr>
            <a:r>
              <a:rPr lang="en-US" b="true" sz="4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Medicine </a:t>
            </a:r>
          </a:p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Authentication:</a:t>
            </a: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707144" y="2446481"/>
            <a:ext cx="6155916" cy="187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AUTHENTICATED </a:t>
            </a:r>
          </a:p>
          <a:p>
            <a:pPr algn="r">
              <a:lnSpc>
                <a:spcPts val="755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true" flipV="false" rot="9348473">
            <a:off x="9681907" y="3282880"/>
            <a:ext cx="1721618" cy="486357"/>
          </a:xfrm>
          <a:custGeom>
            <a:avLst/>
            <a:gdLst/>
            <a:ahLst/>
            <a:cxnLst/>
            <a:rect r="r" b="b" t="t" l="l"/>
            <a:pathLst>
              <a:path h="486357" w="1721618">
                <a:moveTo>
                  <a:pt x="1721618" y="0"/>
                </a:moveTo>
                <a:lnTo>
                  <a:pt x="0" y="0"/>
                </a:lnTo>
                <a:lnTo>
                  <a:pt x="0" y="486357"/>
                </a:lnTo>
                <a:lnTo>
                  <a:pt x="1721618" y="486357"/>
                </a:lnTo>
                <a:lnTo>
                  <a:pt x="172161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55593" y="2071105"/>
            <a:ext cx="1397243" cy="1135842"/>
          </a:xfrm>
          <a:custGeom>
            <a:avLst/>
            <a:gdLst/>
            <a:ahLst/>
            <a:cxnLst/>
            <a:rect r="r" b="b" t="t" l="l"/>
            <a:pathLst>
              <a:path h="1135842" w="1397243">
                <a:moveTo>
                  <a:pt x="0" y="0"/>
                </a:moveTo>
                <a:lnTo>
                  <a:pt x="1397243" y="0"/>
                </a:lnTo>
                <a:lnTo>
                  <a:pt x="1397243" y="1135842"/>
                </a:lnTo>
                <a:lnTo>
                  <a:pt x="0" y="1135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408008" y="-368448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4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787125" y="190229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4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042566" y="4252421"/>
            <a:ext cx="6266598" cy="390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Personal Dashboard</a:t>
            </a:r>
          </a:p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Access to all services</a:t>
            </a:r>
          </a:p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Add records in profile</a:t>
            </a:r>
          </a:p>
          <a:p>
            <a:pPr algn="l" marL="906775" indent="-453388" lvl="1">
              <a:lnSpc>
                <a:spcPts val="5879"/>
              </a:lnSpc>
              <a:buAutoNum type="arabicPeriod" startAt="1"/>
            </a:pPr>
            <a:r>
              <a:rPr lang="en-US" b="true" sz="4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Avail Offers</a:t>
            </a:r>
          </a:p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b="true" sz="35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Consultation anytime</a:t>
            </a:r>
          </a:p>
          <a:p>
            <a:pPr algn="l">
              <a:lnSpc>
                <a:spcPts val="5039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987743">
            <a:off x="-5148051" y="-2289602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8541">
            <a:off x="-374719" y="-372707"/>
            <a:ext cx="17201471" cy="12416335"/>
          </a:xfrm>
          <a:custGeom>
            <a:avLst/>
            <a:gdLst/>
            <a:ahLst/>
            <a:cxnLst/>
            <a:rect r="r" b="b" t="t" l="l"/>
            <a:pathLst>
              <a:path h="12416335" w="17201471">
                <a:moveTo>
                  <a:pt x="0" y="0"/>
                </a:moveTo>
                <a:lnTo>
                  <a:pt x="17201471" y="0"/>
                </a:lnTo>
                <a:lnTo>
                  <a:pt x="17201471" y="12416334"/>
                </a:lnTo>
                <a:lnTo>
                  <a:pt x="0" y="12416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99041"/>
            <a:ext cx="18886127" cy="614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14"/>
              </a:lnSpc>
            </a:pPr>
            <a:r>
              <a:rPr lang="en-US" sz="17652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PUBLIC</a:t>
            </a:r>
          </a:p>
          <a:p>
            <a:pPr algn="l">
              <a:lnSpc>
                <a:spcPts val="24714"/>
              </a:lnSpc>
            </a:pPr>
            <a:r>
              <a:rPr lang="en-US" sz="17652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PAGES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326120" y="9258300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426353" y="2512547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987743">
            <a:off x="-839675" y="-2616570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1" y="0"/>
                </a:lnTo>
                <a:lnTo>
                  <a:pt x="19179331" y="16250125"/>
                </a:lnTo>
                <a:lnTo>
                  <a:pt x="0" y="1625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8541">
            <a:off x="-952868" y="-2063374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455" y="1047060"/>
            <a:ext cx="3672432" cy="12272232"/>
            <a:chOff x="0" y="0"/>
            <a:chExt cx="4896576" cy="1636297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531" y="0"/>
              <a:ext cx="4889500" cy="16362976"/>
              <a:chOff x="0" y="0"/>
              <a:chExt cx="572342" cy="191537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72342" cy="1915374"/>
              </a:xfrm>
              <a:custGeom>
                <a:avLst/>
                <a:gdLst/>
                <a:ahLst/>
                <a:cxnLst/>
                <a:rect r="r" b="b" t="t" l="l"/>
                <a:pathLst>
                  <a:path h="1915374" w="572342">
                    <a:moveTo>
                      <a:pt x="0" y="0"/>
                    </a:moveTo>
                    <a:lnTo>
                      <a:pt x="572342" y="0"/>
                    </a:lnTo>
                    <a:lnTo>
                      <a:pt x="572342" y="1915374"/>
                    </a:lnTo>
                    <a:lnTo>
                      <a:pt x="0" y="1915374"/>
                    </a:lnTo>
                    <a:close/>
                  </a:path>
                </a:pathLst>
              </a:custGeom>
              <a:solidFill>
                <a:srgbClr val="02A658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342900"/>
                <a:ext cx="572342" cy="1572474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549"/>
                  </a:lnSpc>
                </a:pPr>
              </a:p>
              <a:p>
                <a:pPr algn="ctr">
                  <a:lnSpc>
                    <a:spcPts val="2549"/>
                  </a:lnSpc>
                </a:pPr>
                <a:r>
                  <a:rPr lang="en-US" sz="5099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01</a:t>
                </a:r>
              </a:p>
              <a:p>
                <a:pPr algn="ctr">
                  <a:lnSpc>
                    <a:spcPts val="7139"/>
                  </a:lnSpc>
                </a:pPr>
              </a:p>
              <a:p>
                <a:pPr algn="ctr">
                  <a:lnSpc>
                    <a:spcPts val="7139"/>
                  </a:lnSpc>
                </a:pPr>
                <a:r>
                  <a:rPr lang="en-US" sz="5099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HOME</a:t>
                </a:r>
              </a:p>
              <a:p>
                <a:pPr algn="ctr">
                  <a:lnSpc>
                    <a:spcPts val="7139"/>
                  </a:lnSpc>
                </a:pPr>
              </a:p>
              <a:p>
                <a:pPr algn="ctr">
                  <a:lnSpc>
                    <a:spcPts val="7139"/>
                  </a:lnSpc>
                </a:pPr>
              </a:p>
              <a:p>
                <a:pPr algn="ctr">
                  <a:lnSpc>
                    <a:spcPts val="4900"/>
                  </a:lnSpc>
                </a:pP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Presenting MediScan's </a:t>
                </a:r>
              </a:p>
              <a:p>
                <a:pPr algn="ctr">
                  <a:lnSpc>
                    <a:spcPts val="4900"/>
                  </a:lnSpc>
                </a:pP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core services, </a:t>
                </a:r>
              </a:p>
              <a:p>
                <a:pPr algn="ctr">
                  <a:lnSpc>
                    <a:spcPts val="4900"/>
                  </a:lnSpc>
                </a:pP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AI features, </a:t>
                </a:r>
              </a:p>
              <a:p>
                <a:pPr algn="ctr">
                  <a:lnSpc>
                    <a:spcPts val="4900"/>
                  </a:lnSpc>
                </a:pP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and patient testimonials.</a:t>
                </a:r>
              </a:p>
              <a:p>
                <a:pPr algn="ctr">
                  <a:lnSpc>
                    <a:spcPts val="71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>
              <a:off x="6559" y="3699847"/>
              <a:ext cx="2438722" cy="651891"/>
            </a:xfrm>
            <a:prstGeom prst="line">
              <a:avLst/>
            </a:prstGeom>
            <a:ln cap="flat" w="50800">
              <a:solidFill>
                <a:srgbClr val="00BF6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2445281" y="3699847"/>
              <a:ext cx="2444750" cy="651891"/>
            </a:xfrm>
            <a:prstGeom prst="line">
              <a:avLst/>
            </a:prstGeom>
            <a:ln cap="flat" w="50800">
              <a:solidFill>
                <a:srgbClr val="00BF6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557856" y="1476646"/>
            <a:ext cx="3676853" cy="12272232"/>
            <a:chOff x="0" y="0"/>
            <a:chExt cx="4902471" cy="163629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5957" y="0"/>
              <a:ext cx="4889500" cy="16362976"/>
              <a:chOff x="0" y="0"/>
              <a:chExt cx="572342" cy="191537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72342" cy="1915374"/>
              </a:xfrm>
              <a:custGeom>
                <a:avLst/>
                <a:gdLst/>
                <a:ahLst/>
                <a:cxnLst/>
                <a:rect r="r" b="b" t="t" l="l"/>
                <a:pathLst>
                  <a:path h="1915374" w="572342">
                    <a:moveTo>
                      <a:pt x="0" y="0"/>
                    </a:moveTo>
                    <a:lnTo>
                      <a:pt x="572342" y="0"/>
                    </a:lnTo>
                    <a:lnTo>
                      <a:pt x="572342" y="1915374"/>
                    </a:lnTo>
                    <a:lnTo>
                      <a:pt x="0" y="1915374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342900"/>
                <a:ext cx="572342" cy="1572474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549"/>
                  </a:lnSpc>
                </a:pPr>
              </a:p>
              <a:p>
                <a:pPr algn="ctr">
                  <a:lnSpc>
                    <a:spcPts val="2549"/>
                  </a:lnSpc>
                </a:pPr>
                <a:r>
                  <a:rPr lang="en-US" sz="5099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02</a:t>
                </a:r>
              </a:p>
              <a:p>
                <a:pPr algn="ctr">
                  <a:lnSpc>
                    <a:spcPts val="7139"/>
                  </a:lnSpc>
                </a:pPr>
              </a:p>
              <a:p>
                <a:pPr algn="ctr">
                  <a:lnSpc>
                    <a:spcPts val="7139"/>
                  </a:lnSpc>
                </a:pPr>
                <a:r>
                  <a:rPr lang="en-US" sz="5099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SERVICES</a:t>
                </a:r>
              </a:p>
              <a:p>
                <a:pPr algn="ctr">
                  <a:lnSpc>
                    <a:spcPts val="11117"/>
                  </a:lnSpc>
                </a:pPr>
              </a:p>
              <a:p>
                <a:pPr algn="ctr">
                  <a:lnSpc>
                    <a:spcPts val="4900"/>
                  </a:lnSpc>
                </a:pP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Integ</a:t>
                </a: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rated </a:t>
                </a:r>
              </a:p>
              <a:p>
                <a:pPr algn="ctr">
                  <a:lnSpc>
                    <a:spcPts val="4900"/>
                  </a:lnSpc>
                </a:pP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suite for Medicine Tracking, Analysis, and  Booking.</a:t>
                </a:r>
              </a:p>
              <a:p>
                <a:pPr algn="ctr">
                  <a:lnSpc>
                    <a:spcPts val="71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6" id="16"/>
            <p:cNvSpPr/>
            <p:nvPr/>
          </p:nvSpPr>
          <p:spPr>
            <a:xfrm>
              <a:off x="5957" y="3852513"/>
              <a:ext cx="2600699" cy="627411"/>
            </a:xfrm>
            <a:prstGeom prst="line">
              <a:avLst/>
            </a:prstGeom>
            <a:ln cap="flat" w="50800">
              <a:solidFill>
                <a:srgbClr val="1BCD7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V="true">
              <a:off x="2606656" y="3852513"/>
              <a:ext cx="2289100" cy="627411"/>
            </a:xfrm>
            <a:prstGeom prst="line">
              <a:avLst/>
            </a:prstGeom>
            <a:ln cap="flat" w="50800">
              <a:solidFill>
                <a:srgbClr val="1BCD7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126149" y="1998048"/>
            <a:ext cx="3675175" cy="12272232"/>
            <a:chOff x="0" y="0"/>
            <a:chExt cx="4900233" cy="1636297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0733" y="0"/>
              <a:ext cx="4889500" cy="16362976"/>
              <a:chOff x="0" y="0"/>
              <a:chExt cx="572342" cy="191537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72342" cy="1915374"/>
              </a:xfrm>
              <a:custGeom>
                <a:avLst/>
                <a:gdLst/>
                <a:ahLst/>
                <a:cxnLst/>
                <a:rect r="r" b="b" t="t" l="l"/>
                <a:pathLst>
                  <a:path h="1915374" w="572342">
                    <a:moveTo>
                      <a:pt x="0" y="0"/>
                    </a:moveTo>
                    <a:lnTo>
                      <a:pt x="572342" y="0"/>
                    </a:lnTo>
                    <a:lnTo>
                      <a:pt x="572342" y="1915374"/>
                    </a:lnTo>
                    <a:lnTo>
                      <a:pt x="0" y="1915374"/>
                    </a:lnTo>
                    <a:close/>
                  </a:path>
                </a:pathLst>
              </a:custGeom>
              <a:solidFill>
                <a:srgbClr val="1BCD79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342900"/>
                <a:ext cx="572342" cy="1572474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549"/>
                  </a:lnSpc>
                </a:pPr>
              </a:p>
              <a:p>
                <a:pPr algn="ctr">
                  <a:lnSpc>
                    <a:spcPts val="2549"/>
                  </a:lnSpc>
                </a:pPr>
                <a:r>
                  <a:rPr lang="en-US" sz="5099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03</a:t>
                </a:r>
              </a:p>
              <a:p>
                <a:pPr algn="ctr">
                  <a:lnSpc>
                    <a:spcPts val="7139"/>
                  </a:lnSpc>
                </a:pPr>
              </a:p>
              <a:p>
                <a:pPr algn="ctr">
                  <a:lnSpc>
                    <a:spcPts val="7139"/>
                  </a:lnSpc>
                </a:pPr>
                <a:r>
                  <a:rPr lang="en-US" sz="5099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ABOUT</a:t>
                </a:r>
              </a:p>
              <a:p>
                <a:pPr algn="ctr">
                  <a:lnSpc>
                    <a:spcPts val="7139"/>
                  </a:lnSpc>
                </a:pPr>
              </a:p>
              <a:p>
                <a:pPr algn="ctr">
                  <a:lnSpc>
                    <a:spcPts val="5040"/>
                  </a:lnSpc>
                </a:pP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Int</a:t>
                </a: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roduces the platform's mission, vision, and real-time user statistics.</a:t>
                </a:r>
              </a:p>
              <a:p>
                <a:pPr algn="ctr">
                  <a:lnSpc>
                    <a:spcPts val="5459"/>
                  </a:lnSpc>
                </a:pPr>
              </a:p>
              <a:p>
                <a:pPr algn="ctr">
                  <a:lnSpc>
                    <a:spcPts val="71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22" id="22"/>
            <p:cNvSpPr/>
            <p:nvPr/>
          </p:nvSpPr>
          <p:spPr>
            <a:xfrm>
              <a:off x="6779" y="3578876"/>
              <a:ext cx="2520579" cy="673772"/>
            </a:xfrm>
            <a:prstGeom prst="line">
              <a:avLst/>
            </a:prstGeom>
            <a:ln cap="flat" w="52505">
              <a:solidFill>
                <a:srgbClr val="03E07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 flipV="true">
              <a:off x="2527358" y="3604178"/>
              <a:ext cx="2365935" cy="648470"/>
            </a:xfrm>
            <a:prstGeom prst="line">
              <a:avLst/>
            </a:prstGeom>
            <a:ln cap="flat" w="52505">
              <a:solidFill>
                <a:srgbClr val="03E076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782273" y="2525172"/>
            <a:ext cx="3667125" cy="12463747"/>
            <a:chOff x="0" y="0"/>
            <a:chExt cx="4889500" cy="1661833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889500" cy="16618330"/>
              <a:chOff x="0" y="0"/>
              <a:chExt cx="572342" cy="194526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72342" cy="1945264"/>
              </a:xfrm>
              <a:custGeom>
                <a:avLst/>
                <a:gdLst/>
                <a:ahLst/>
                <a:cxnLst/>
                <a:rect r="r" b="b" t="t" l="l"/>
                <a:pathLst>
                  <a:path h="1945264" w="572342">
                    <a:moveTo>
                      <a:pt x="0" y="0"/>
                    </a:moveTo>
                    <a:lnTo>
                      <a:pt x="572342" y="0"/>
                    </a:lnTo>
                    <a:lnTo>
                      <a:pt x="572342" y="1945264"/>
                    </a:lnTo>
                    <a:lnTo>
                      <a:pt x="0" y="1945264"/>
                    </a:lnTo>
                    <a:close/>
                  </a:path>
                </a:pathLst>
              </a:custGeom>
              <a:solidFill>
                <a:srgbClr val="2CE089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342900"/>
                <a:ext cx="572342" cy="1602364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549"/>
                  </a:lnSpc>
                </a:pPr>
              </a:p>
              <a:p>
                <a:pPr algn="ctr">
                  <a:lnSpc>
                    <a:spcPts val="2549"/>
                  </a:lnSpc>
                </a:pPr>
                <a:r>
                  <a:rPr lang="en-US" sz="5099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04</a:t>
                </a:r>
              </a:p>
              <a:p>
                <a:pPr algn="ctr">
                  <a:lnSpc>
                    <a:spcPts val="5303"/>
                  </a:lnSpc>
                </a:pPr>
              </a:p>
              <a:p>
                <a:pPr algn="ctr">
                  <a:lnSpc>
                    <a:spcPts val="6579"/>
                  </a:lnSpc>
                </a:pPr>
                <a:r>
                  <a:rPr lang="en-US" sz="4699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DASHBOARD</a:t>
                </a:r>
              </a:p>
              <a:p>
                <a:pPr algn="ctr">
                  <a:lnSpc>
                    <a:spcPts val="5966"/>
                  </a:lnSpc>
                </a:pPr>
              </a:p>
              <a:p>
                <a:pPr algn="ctr">
                  <a:lnSpc>
                    <a:spcPts val="4900"/>
                  </a:lnSpc>
                </a:pP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Cent</a:t>
                </a: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ral hub for tracking vitals, upcoming appointments, and quick actions.</a:t>
                </a:r>
              </a:p>
              <a:p>
                <a:pPr algn="ctr">
                  <a:lnSpc>
                    <a:spcPts val="5459"/>
                  </a:lnSpc>
                </a:pPr>
              </a:p>
              <a:p>
                <a:pPr algn="ctr">
                  <a:lnSpc>
                    <a:spcPts val="5459"/>
                  </a:lnSpc>
                </a:pPr>
              </a:p>
              <a:p>
                <a:pPr algn="ctr">
                  <a:lnSpc>
                    <a:spcPts val="71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28" id="28"/>
            <p:cNvSpPr/>
            <p:nvPr/>
          </p:nvSpPr>
          <p:spPr>
            <a:xfrm>
              <a:off x="6765" y="3218173"/>
              <a:ext cx="2515058" cy="672296"/>
            </a:xfrm>
            <a:prstGeom prst="line">
              <a:avLst/>
            </a:prstGeom>
            <a:ln cap="flat" w="52390">
              <a:solidFill>
                <a:srgbClr val="00BF6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 flipV="true">
              <a:off x="2521823" y="3243419"/>
              <a:ext cx="2360753" cy="647050"/>
            </a:xfrm>
            <a:prstGeom prst="line">
              <a:avLst/>
            </a:prstGeom>
            <a:ln cap="flat" w="52390">
              <a:solidFill>
                <a:srgbClr val="00BF6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449398" y="3010303"/>
            <a:ext cx="3667125" cy="12518466"/>
            <a:chOff x="0" y="0"/>
            <a:chExt cx="4889500" cy="16691288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889500" cy="16691288"/>
              <a:chOff x="0" y="0"/>
              <a:chExt cx="572342" cy="195380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72342" cy="1953804"/>
              </a:xfrm>
              <a:custGeom>
                <a:avLst/>
                <a:gdLst/>
                <a:ahLst/>
                <a:cxnLst/>
                <a:rect r="r" b="b" t="t" l="l"/>
                <a:pathLst>
                  <a:path h="1953804" w="572342">
                    <a:moveTo>
                      <a:pt x="0" y="0"/>
                    </a:moveTo>
                    <a:lnTo>
                      <a:pt x="572342" y="0"/>
                    </a:lnTo>
                    <a:lnTo>
                      <a:pt x="572342" y="1953804"/>
                    </a:lnTo>
                    <a:lnTo>
                      <a:pt x="0" y="1953804"/>
                    </a:lnTo>
                    <a:close/>
                  </a:path>
                </a:pathLst>
              </a:custGeom>
              <a:solidFill>
                <a:srgbClr val="03E076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323850"/>
                <a:ext cx="572342" cy="1629954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399"/>
                  </a:lnSpc>
                </a:pPr>
              </a:p>
              <a:p>
                <a:pPr algn="ctr">
                  <a:lnSpc>
                    <a:spcPts val="5135"/>
                  </a:lnSpc>
                </a:pPr>
                <a:r>
                  <a:rPr lang="en-US" sz="4799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05</a:t>
                </a:r>
              </a:p>
              <a:p>
                <a:pPr algn="ctr">
                  <a:lnSpc>
                    <a:spcPts val="2349"/>
                  </a:lnSpc>
                </a:pPr>
              </a:p>
              <a:p>
                <a:pPr algn="ctr">
                  <a:lnSpc>
                    <a:spcPts val="6439"/>
                  </a:lnSpc>
                </a:pPr>
                <a:r>
                  <a:rPr lang="en-US" sz="4599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PROFILE</a:t>
                </a:r>
              </a:p>
              <a:p>
                <a:pPr algn="ctr">
                  <a:lnSpc>
                    <a:spcPts val="3383"/>
                  </a:lnSpc>
                </a:pPr>
              </a:p>
              <a:p>
                <a:pPr algn="ctr">
                  <a:lnSpc>
                    <a:spcPts val="4900"/>
                  </a:lnSpc>
                </a:pP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 Manages Records,</a:t>
                </a:r>
              </a:p>
              <a:p>
                <a:pPr algn="ctr">
                  <a:lnSpc>
                    <a:spcPts val="4900"/>
                  </a:lnSpc>
                </a:pP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History,</a:t>
                </a:r>
              </a:p>
              <a:p>
                <a:pPr algn="ctr">
                  <a:lnSpc>
                    <a:spcPts val="4900"/>
                  </a:lnSpc>
                </a:pPr>
                <a:r>
                  <a:rPr lang="en-US" sz="3500">
                    <a:solidFill>
                      <a:srgbClr val="FFFFFF"/>
                    </a:solidFill>
                    <a:latin typeface="Fredoka"/>
                    <a:ea typeface="Fredoka"/>
                    <a:cs typeface="Fredoka"/>
                    <a:sym typeface="Fredoka"/>
                  </a:rPr>
                  <a:t>lifestyle of patient</a:t>
                </a:r>
              </a:p>
              <a:p>
                <a:pPr algn="ctr">
                  <a:lnSpc>
                    <a:spcPts val="5459"/>
                  </a:lnSpc>
                </a:pPr>
              </a:p>
              <a:p>
                <a:pPr algn="ctr">
                  <a:lnSpc>
                    <a:spcPts val="5459"/>
                  </a:lnSpc>
                </a:pPr>
              </a:p>
              <a:p>
                <a:pPr algn="ctr">
                  <a:lnSpc>
                    <a:spcPts val="71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34" id="34"/>
            <p:cNvSpPr/>
            <p:nvPr/>
          </p:nvSpPr>
          <p:spPr>
            <a:xfrm>
              <a:off x="6765" y="2932786"/>
              <a:ext cx="2515058" cy="672296"/>
            </a:xfrm>
            <a:prstGeom prst="line">
              <a:avLst/>
            </a:prstGeom>
            <a:ln cap="flat" w="52390">
              <a:solidFill>
                <a:srgbClr val="1BCD7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 flipV="true">
              <a:off x="2521823" y="2958032"/>
              <a:ext cx="2360753" cy="647050"/>
            </a:xfrm>
            <a:prstGeom prst="line">
              <a:avLst/>
            </a:prstGeom>
            <a:ln cap="flat" w="52390">
              <a:solidFill>
                <a:srgbClr val="1BCD7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Patient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2993893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024300" y="3246619"/>
            <a:ext cx="9007376" cy="107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9"/>
              </a:lnSpc>
            </a:pPr>
            <a:r>
              <a:rPr lang="en-US" sz="6306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Health Vitals Tracking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28653" y="4819981"/>
            <a:ext cx="8198670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Real  time Monitoring  and give Analysis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28653" y="5896157"/>
            <a:ext cx="8060937" cy="178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Tr</a:t>
            </a: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end Analysis which helps to displays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6-month historical graphs</a:t>
            </a:r>
          </a:p>
          <a:p>
            <a:pPr algn="just">
              <a:lnSpc>
                <a:spcPts val="4759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4867370" y="6162344"/>
            <a:ext cx="313860" cy="31386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Patient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4643803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769344" y="3194570"/>
            <a:ext cx="9517288" cy="192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</a:t>
            </a: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edical Assets &amp; Rewards</a:t>
            </a:r>
          </a:p>
          <a:p>
            <a:pPr algn="ctr">
              <a:lnSpc>
                <a:spcPts val="775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562230" y="4819981"/>
            <a:ext cx="4675368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Inventory and reports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562230" y="5852661"/>
            <a:ext cx="7566151" cy="178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Manage consulation payments and 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engage user to claim offers and also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shows Active plan.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867370" y="6162344"/>
            <a:ext cx="313860" cy="31386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Patient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6080367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829699" y="3194570"/>
            <a:ext cx="7396578" cy="94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 Quick Actions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13135" y="4819981"/>
            <a:ext cx="7261730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Emergency mode to access quickly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562230" y="5852661"/>
            <a:ext cx="7663701" cy="238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One-Tap Utilities Direct shortcuts to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Top Up Wallet, Family Health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Tracker, and Download Prescriptions</a:t>
            </a:r>
          </a:p>
          <a:p>
            <a:pPr algn="just">
              <a:lnSpc>
                <a:spcPts val="4759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4867370" y="6162344"/>
            <a:ext cx="313860" cy="31386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Patient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7484670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286972" y="3194570"/>
            <a:ext cx="6482032" cy="94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Token and Topical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62230" y="4819981"/>
            <a:ext cx="5885070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Recent Appointment Access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562230" y="5852661"/>
            <a:ext cx="5748554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Log of Booking and care tip 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867370" y="6162344"/>
            <a:ext cx="313860" cy="31386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Doctor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3082570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407304" y="3194570"/>
            <a:ext cx="8241368" cy="192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Appointment Schedule</a:t>
            </a:r>
          </a:p>
          <a:p>
            <a:pPr algn="ctr">
              <a:lnSpc>
                <a:spcPts val="775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638430" y="4749885"/>
            <a:ext cx="7526196" cy="29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"Today's Schedule" view provides a focused list of daily consults, allowing doctors to manage their time efficiently without clutter.</a:t>
            </a:r>
          </a:p>
          <a:p>
            <a:pPr algn="ctr">
              <a:lnSpc>
                <a:spcPts val="4759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Doctor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4486873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347815" y="3194570"/>
            <a:ext cx="6360346" cy="192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Patient Overview</a:t>
            </a:r>
          </a:p>
          <a:p>
            <a:pPr algn="ctr">
              <a:lnSpc>
                <a:spcPts val="775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638430" y="4749885"/>
            <a:ext cx="7526196" cy="29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Quick access to total patient counts and key demographics, helping doctors understand their patient base at a glance.</a:t>
            </a:r>
          </a:p>
          <a:p>
            <a:pPr algn="ctr">
              <a:lnSpc>
                <a:spcPts val="4759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Doctor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5983807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203967" y="3194570"/>
            <a:ext cx="6648043" cy="192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Consultation Tools</a:t>
            </a:r>
          </a:p>
          <a:p>
            <a:pPr algn="ctr">
              <a:lnSpc>
                <a:spcPts val="775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638430" y="4696061"/>
            <a:ext cx="8626077" cy="29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Dedicated workflow controls to "Start" video calls, take notes during sessions, and "Complete" appointments to trigger prescriptions/follow-ups.</a:t>
            </a:r>
          </a:p>
          <a:p>
            <a:pPr algn="ctr">
              <a:lnSpc>
                <a:spcPts val="4759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Doctor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7577301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111883" y="3194570"/>
            <a:ext cx="8832211" cy="192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Quick Actions &amp; Settings</a:t>
            </a:r>
          </a:p>
          <a:p>
            <a:pPr algn="ctr">
              <a:lnSpc>
                <a:spcPts val="775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638430" y="4749885"/>
            <a:ext cx="7849691" cy="238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Simplified controls to update profile availability, manage account security, and export practice data</a:t>
            </a:r>
          </a:p>
          <a:p>
            <a:pPr algn="ctr">
              <a:lnSpc>
                <a:spcPts val="4759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Admin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3082570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508538" y="3194570"/>
            <a:ext cx="6038901" cy="192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Statistics</a:t>
            </a:r>
          </a:p>
          <a:p>
            <a:pPr algn="ctr">
              <a:lnSpc>
                <a:spcPts val="775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522269" y="4696061"/>
            <a:ext cx="8658427" cy="29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Real-time analytics dashboard displaying critical metrics like Total Users, Active Doctors, Appointment Volume, and Platform Revenue.</a:t>
            </a:r>
          </a:p>
          <a:p>
            <a:pPr algn="ctr">
              <a:lnSpc>
                <a:spcPts val="4759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Admin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4486873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188102" y="3194570"/>
            <a:ext cx="6679772" cy="192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User Management</a:t>
            </a:r>
          </a:p>
          <a:p>
            <a:pPr algn="ctr">
              <a:lnSpc>
                <a:spcPts val="775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348552" y="4696061"/>
            <a:ext cx="7590895" cy="29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Comprehensive tools to onboard new doctors, verify credentials, and manage patient/doctor accounts to ensure platform integrity.</a:t>
            </a:r>
          </a:p>
          <a:p>
            <a:pPr algn="ctr">
              <a:lnSpc>
                <a:spcPts val="4759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Admin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5983807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052691" y="3194570"/>
            <a:ext cx="6950595" cy="192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Offer Management</a:t>
            </a:r>
          </a:p>
          <a:p>
            <a:pPr algn="ctr">
              <a:lnSpc>
                <a:spcPts val="775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348552" y="4696061"/>
            <a:ext cx="7590895" cy="29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Marketing toolkit to create, update, or delete promotional offers and discount codes to drive user engagement.</a:t>
            </a:r>
          </a:p>
          <a:p>
            <a:pPr algn="ctr">
              <a:lnSpc>
                <a:spcPts val="4759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8541">
            <a:off x="710468" y="-1488828"/>
            <a:ext cx="19394502" cy="13999304"/>
          </a:xfrm>
          <a:custGeom>
            <a:avLst/>
            <a:gdLst/>
            <a:ahLst/>
            <a:cxnLst/>
            <a:rect r="r" b="b" t="t" l="l"/>
            <a:pathLst>
              <a:path h="13999304" w="19394502">
                <a:moveTo>
                  <a:pt x="0" y="0"/>
                </a:moveTo>
                <a:lnTo>
                  <a:pt x="19394502" y="0"/>
                </a:lnTo>
                <a:lnTo>
                  <a:pt x="19394502" y="13999304"/>
                </a:lnTo>
                <a:lnTo>
                  <a:pt x="0" y="13999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87743">
            <a:off x="-839981" y="-2614238"/>
            <a:ext cx="19179332" cy="16250125"/>
          </a:xfrm>
          <a:custGeom>
            <a:avLst/>
            <a:gdLst/>
            <a:ahLst/>
            <a:cxnLst/>
            <a:rect r="r" b="b" t="t" l="l"/>
            <a:pathLst>
              <a:path h="16250125" w="19179332">
                <a:moveTo>
                  <a:pt x="0" y="0"/>
                </a:moveTo>
                <a:lnTo>
                  <a:pt x="19179332" y="0"/>
                </a:lnTo>
                <a:lnTo>
                  <a:pt x="19179332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2419" y="-103479"/>
            <a:ext cx="16230600" cy="214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Admin 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697050" y="1299474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5550" y="580754"/>
            <a:ext cx="1574250" cy="895891"/>
          </a:xfrm>
          <a:custGeom>
            <a:avLst/>
            <a:gdLst/>
            <a:ahLst/>
            <a:cxnLst/>
            <a:rect r="r" b="b" t="t" l="l"/>
            <a:pathLst>
              <a:path h="895891" w="1574250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88109" y="2331718"/>
            <a:ext cx="10079759" cy="6926582"/>
            <a:chOff x="0" y="0"/>
            <a:chExt cx="635000" cy="436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436358"/>
            </a:xfrm>
            <a:custGeom>
              <a:avLst/>
              <a:gdLst/>
              <a:ahLst/>
              <a:cxnLst/>
              <a:rect r="r" b="b" t="t" l="l"/>
              <a:pathLst>
                <a:path h="436358" w="635000">
                  <a:moveTo>
                    <a:pt x="53405" y="0"/>
                  </a:moveTo>
                  <a:lnTo>
                    <a:pt x="581595" y="0"/>
                  </a:lnTo>
                  <a:cubicBezTo>
                    <a:pt x="595759" y="0"/>
                    <a:pt x="609343" y="5627"/>
                    <a:pt x="619358" y="15642"/>
                  </a:cubicBezTo>
                  <a:cubicBezTo>
                    <a:pt x="629373" y="25657"/>
                    <a:pt x="635000" y="39241"/>
                    <a:pt x="635000" y="53405"/>
                  </a:cubicBezTo>
                  <a:lnTo>
                    <a:pt x="635000" y="382953"/>
                  </a:lnTo>
                  <a:cubicBezTo>
                    <a:pt x="635000" y="397117"/>
                    <a:pt x="629373" y="410700"/>
                    <a:pt x="619358" y="420716"/>
                  </a:cubicBezTo>
                  <a:cubicBezTo>
                    <a:pt x="609343" y="430731"/>
                    <a:pt x="595759" y="436358"/>
                    <a:pt x="581595" y="436358"/>
                  </a:cubicBezTo>
                  <a:lnTo>
                    <a:pt x="53405" y="436358"/>
                  </a:lnTo>
                  <a:cubicBezTo>
                    <a:pt x="39241" y="436358"/>
                    <a:pt x="25657" y="430731"/>
                    <a:pt x="15642" y="420716"/>
                  </a:cubicBezTo>
                  <a:cubicBezTo>
                    <a:pt x="5627" y="410700"/>
                    <a:pt x="0" y="397117"/>
                    <a:pt x="0" y="382953"/>
                  </a:cubicBezTo>
                  <a:lnTo>
                    <a:pt x="0" y="53405"/>
                  </a:lnTo>
                  <a:cubicBezTo>
                    <a:pt x="0" y="39241"/>
                    <a:pt x="5627" y="25657"/>
                    <a:pt x="15642" y="15642"/>
                  </a:cubicBezTo>
                  <a:cubicBezTo>
                    <a:pt x="25657" y="5627"/>
                    <a:pt x="39241" y="0"/>
                    <a:pt x="53405" y="0"/>
                  </a:cubicBezTo>
                  <a:close/>
                </a:path>
              </a:pathLst>
            </a:custGeom>
            <a:solidFill>
              <a:srgbClr val="B5E3DA"/>
            </a:solidFill>
            <a:ln w="152400" cap="rnd">
              <a:solidFill>
                <a:srgbClr val="71717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35000" cy="474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2688" y="2900089"/>
            <a:ext cx="1307744" cy="1307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2688" y="4489628"/>
            <a:ext cx="1307744" cy="130774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2688" y="6083122"/>
            <a:ext cx="1307744" cy="1307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2688" y="7676616"/>
            <a:ext cx="1307744" cy="13077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E3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3081050" y="7484670"/>
            <a:ext cx="1500862" cy="1313254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17173"/>
            </a:solidFill>
            <a:ln w="38100" cap="sq">
              <a:solidFill>
                <a:srgbClr val="B5E3D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67370" y="4986570"/>
            <a:ext cx="313860" cy="31386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008069" y="3194570"/>
            <a:ext cx="7039839" cy="192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4"/>
              </a:lnSpc>
            </a:pPr>
            <a:r>
              <a:rPr lang="en-US" sz="5539">
                <a:solidFill>
                  <a:srgbClr val="02A65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Export &amp; Logs</a:t>
            </a:r>
          </a:p>
          <a:p>
            <a:pPr algn="ctr">
              <a:lnSpc>
                <a:spcPts val="775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348552" y="4696061"/>
            <a:ext cx="7590895" cy="29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BCD79"/>
                </a:solidFill>
                <a:latin typeface="Canva Sans"/>
                <a:ea typeface="Canva Sans"/>
                <a:cs typeface="Canva Sans"/>
                <a:sym typeface="Canva Sans"/>
              </a:rPr>
              <a:t>Advanced administrative features to export system-wide data for offline analysis and view detailed system logs for troubleshooting.</a:t>
            </a:r>
          </a:p>
          <a:p>
            <a:pPr algn="ctr">
              <a:lnSpc>
                <a:spcPts val="4759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72750" y="-1185886"/>
            <a:ext cx="17240730" cy="14607600"/>
          </a:xfrm>
          <a:custGeom>
            <a:avLst/>
            <a:gdLst/>
            <a:ahLst/>
            <a:cxnLst/>
            <a:rect r="r" b="b" t="t" l="l"/>
            <a:pathLst>
              <a:path h="14607600" w="17240730">
                <a:moveTo>
                  <a:pt x="0" y="0"/>
                </a:moveTo>
                <a:lnTo>
                  <a:pt x="17240730" y="0"/>
                </a:lnTo>
                <a:lnTo>
                  <a:pt x="17240730" y="14607600"/>
                </a:lnTo>
                <a:lnTo>
                  <a:pt x="0" y="1460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022137">
            <a:off x="3114542" y="536167"/>
            <a:ext cx="16723353" cy="12071220"/>
          </a:xfrm>
          <a:custGeom>
            <a:avLst/>
            <a:gdLst/>
            <a:ahLst/>
            <a:cxnLst/>
            <a:rect r="r" b="b" t="t" l="l"/>
            <a:pathLst>
              <a:path h="12071220" w="16723353">
                <a:moveTo>
                  <a:pt x="0" y="0"/>
                </a:moveTo>
                <a:lnTo>
                  <a:pt x="16723353" y="0"/>
                </a:lnTo>
                <a:lnTo>
                  <a:pt x="16723353" y="12071220"/>
                </a:lnTo>
                <a:lnTo>
                  <a:pt x="0" y="1207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146248"/>
            <a:ext cx="5968328" cy="8283627"/>
          </a:xfrm>
          <a:custGeom>
            <a:avLst/>
            <a:gdLst/>
            <a:ahLst/>
            <a:cxnLst/>
            <a:rect r="r" b="b" t="t" l="l"/>
            <a:pathLst>
              <a:path h="8283627" w="5968328">
                <a:moveTo>
                  <a:pt x="0" y="0"/>
                </a:moveTo>
                <a:lnTo>
                  <a:pt x="5968328" y="0"/>
                </a:lnTo>
                <a:lnTo>
                  <a:pt x="5968328" y="8283627"/>
                </a:lnTo>
                <a:lnTo>
                  <a:pt x="0" y="828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20514" y="546174"/>
            <a:ext cx="9446973" cy="136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165"/>
              </a:lnSpc>
            </a:pPr>
            <a:r>
              <a:rPr lang="en-US" sz="7975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Rising Interests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862057" y="1047861"/>
            <a:ext cx="1397243" cy="1135842"/>
          </a:xfrm>
          <a:custGeom>
            <a:avLst/>
            <a:gdLst/>
            <a:ahLst/>
            <a:cxnLst/>
            <a:rect r="r" b="b" t="t" l="l"/>
            <a:pathLst>
              <a:path h="1135842" w="1397243">
                <a:moveTo>
                  <a:pt x="0" y="0"/>
                </a:moveTo>
                <a:lnTo>
                  <a:pt x="1397243" y="0"/>
                </a:lnTo>
                <a:lnTo>
                  <a:pt x="1397243" y="1135843"/>
                </a:lnTo>
                <a:lnTo>
                  <a:pt x="0" y="11358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060474" y="0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81429" y="2367312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73623" y="698574"/>
            <a:ext cx="1227526" cy="698574"/>
          </a:xfrm>
          <a:custGeom>
            <a:avLst/>
            <a:gdLst/>
            <a:ahLst/>
            <a:cxnLst/>
            <a:rect r="r" b="b" t="t" l="l"/>
            <a:pathLst>
              <a:path h="698574" w="1227526">
                <a:moveTo>
                  <a:pt x="0" y="0"/>
                </a:moveTo>
                <a:lnTo>
                  <a:pt x="1227526" y="0"/>
                </a:lnTo>
                <a:lnTo>
                  <a:pt x="1227526" y="698574"/>
                </a:lnTo>
                <a:lnTo>
                  <a:pt x="0" y="6985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997028" y="3505668"/>
            <a:ext cx="258792" cy="25879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E07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681154" y="3186407"/>
            <a:ext cx="8703426" cy="158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PPG Technology that can be useful in may ways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89692" y="5415516"/>
            <a:ext cx="10606846" cy="165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Real-time ECG/SpO₂ via wearable during call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29444" y="7713056"/>
            <a:ext cx="10606846" cy="81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Insurance claims auto-filed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997028" y="5652225"/>
            <a:ext cx="258792" cy="25879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E07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97028" y="7902920"/>
            <a:ext cx="258792" cy="25879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E07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-1655213" y="-695980"/>
            <a:ext cx="12808520" cy="10852310"/>
          </a:xfrm>
          <a:custGeom>
            <a:avLst/>
            <a:gdLst/>
            <a:ahLst/>
            <a:cxnLst/>
            <a:rect r="r" b="b" t="t" l="l"/>
            <a:pathLst>
              <a:path h="10852310" w="12808520">
                <a:moveTo>
                  <a:pt x="0" y="0"/>
                </a:moveTo>
                <a:lnTo>
                  <a:pt x="12808520" y="0"/>
                </a:lnTo>
                <a:lnTo>
                  <a:pt x="12808520" y="10852310"/>
                </a:lnTo>
                <a:lnTo>
                  <a:pt x="0" y="10852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727506">
            <a:off x="-3670274" y="-3072317"/>
            <a:ext cx="16838642" cy="12154438"/>
          </a:xfrm>
          <a:custGeom>
            <a:avLst/>
            <a:gdLst/>
            <a:ahLst/>
            <a:cxnLst/>
            <a:rect r="r" b="b" t="t" l="l"/>
            <a:pathLst>
              <a:path h="12154438" w="16838642">
                <a:moveTo>
                  <a:pt x="0" y="0"/>
                </a:moveTo>
                <a:lnTo>
                  <a:pt x="16838642" y="0"/>
                </a:lnTo>
                <a:lnTo>
                  <a:pt x="16838642" y="12154438"/>
                </a:lnTo>
                <a:lnTo>
                  <a:pt x="0" y="12154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610644"/>
            <a:ext cx="9144000" cy="9676356"/>
          </a:xfrm>
          <a:custGeom>
            <a:avLst/>
            <a:gdLst/>
            <a:ahLst/>
            <a:cxnLst/>
            <a:rect r="r" b="b" t="t" l="l"/>
            <a:pathLst>
              <a:path h="9676356" w="9144000">
                <a:moveTo>
                  <a:pt x="0" y="0"/>
                </a:moveTo>
                <a:lnTo>
                  <a:pt x="9144000" y="0"/>
                </a:lnTo>
                <a:lnTo>
                  <a:pt x="9144000" y="9676356"/>
                </a:lnTo>
                <a:lnTo>
                  <a:pt x="0" y="96763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20009" y="2834279"/>
            <a:ext cx="8725954" cy="409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28"/>
              </a:lnSpc>
            </a:pPr>
            <a:r>
              <a:rPr lang="en-US" sz="1582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THANK</a:t>
            </a:r>
          </a:p>
          <a:p>
            <a:pPr algn="l">
              <a:lnSpc>
                <a:spcPts val="15828"/>
              </a:lnSpc>
            </a:pPr>
            <a:r>
              <a:rPr lang="en-US" sz="1582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681575" y="4880901"/>
            <a:ext cx="1874050" cy="1523446"/>
          </a:xfrm>
          <a:custGeom>
            <a:avLst/>
            <a:gdLst/>
            <a:ahLst/>
            <a:cxnLst/>
            <a:rect r="r" b="b" t="t" l="l"/>
            <a:pathLst>
              <a:path h="1523446" w="1874050">
                <a:moveTo>
                  <a:pt x="0" y="0"/>
                </a:moveTo>
                <a:lnTo>
                  <a:pt x="1874050" y="0"/>
                </a:lnTo>
                <a:lnTo>
                  <a:pt x="1874050" y="1523446"/>
                </a:lnTo>
                <a:lnTo>
                  <a:pt x="0" y="15234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21520" y="8559726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98277" y="330126"/>
            <a:ext cx="2455053" cy="1397148"/>
          </a:xfrm>
          <a:custGeom>
            <a:avLst/>
            <a:gdLst/>
            <a:ahLst/>
            <a:cxnLst/>
            <a:rect r="r" b="b" t="t" l="l"/>
            <a:pathLst>
              <a:path h="1397148" w="2455053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844633" y="9423826"/>
            <a:ext cx="1873333" cy="1066097"/>
          </a:xfrm>
          <a:custGeom>
            <a:avLst/>
            <a:gdLst/>
            <a:ahLst/>
            <a:cxnLst/>
            <a:rect r="r" b="b" t="t" l="l"/>
            <a:pathLst>
              <a:path h="1066097" w="1873333">
                <a:moveTo>
                  <a:pt x="0" y="0"/>
                </a:moveTo>
                <a:lnTo>
                  <a:pt x="1873333" y="0"/>
                </a:lnTo>
                <a:lnTo>
                  <a:pt x="1873333" y="1066096"/>
                </a:lnTo>
                <a:lnTo>
                  <a:pt x="0" y="10660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6128" y="144698"/>
            <a:ext cx="842572" cy="884002"/>
            <a:chOff x="0" y="0"/>
            <a:chExt cx="773557" cy="8115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3557" cy="811657"/>
            </a:xfrm>
            <a:custGeom>
              <a:avLst/>
              <a:gdLst/>
              <a:ahLst/>
              <a:cxnLst/>
              <a:rect r="r" b="b" t="t" l="l"/>
              <a:pathLst>
                <a:path h="811657" w="773557">
                  <a:moveTo>
                    <a:pt x="0" y="0"/>
                  </a:moveTo>
                  <a:lnTo>
                    <a:pt x="773557" y="0"/>
                  </a:lnTo>
                  <a:lnTo>
                    <a:pt x="773557" y="811657"/>
                  </a:lnTo>
                  <a:lnTo>
                    <a:pt x="0" y="81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28" t="0" r="-126" b="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DAHBr2DmeSc</dc:identifier>
  <dcterms:modified xsi:type="dcterms:W3CDTF">2011-08-01T06:04:30Z</dcterms:modified>
  <cp:revision>1</cp:revision>
  <dc:title>Blue and White Illustrative Medical Healthcare Presentation</dc:title>
</cp:coreProperties>
</file>